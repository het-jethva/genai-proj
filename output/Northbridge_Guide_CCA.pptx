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99283918646b5" /><Relationship Type="http://schemas.openxmlformats.org/officeDocument/2006/relationships/extended-properties" Target="/docProps/app.xml" Id="R919c508a9a334837" /><Relationship Type="http://schemas.openxmlformats.org/officeDocument/2006/relationships/officeDocument" Target="/ppt/presentation.xml" Id="R8e050f25d7b9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4b013e0a94dd5"/>
  </p:sldMasterIdLst>
  <p:notesMasterIdLst>
    <p:notesMasterId xmlns:r="http://schemas.openxmlformats.org/officeDocument/2006/relationships" r:id="R7a74951b27f54417"/>
  </p:notesMasterIdLst>
  <p:sldIdLst>
    <p:sldId xmlns:r="http://schemas.openxmlformats.org/officeDocument/2006/relationships" id="256" r:id="R527c587abbc44a83"/>
    <p:sldId xmlns:r="http://schemas.openxmlformats.org/officeDocument/2006/relationships" id="257" r:id="Ra350b29627f34e88"/>
    <p:sldId xmlns:r="http://schemas.openxmlformats.org/officeDocument/2006/relationships" id="258" r:id="Re9dc7b34764d4b31"/>
    <p:sldId xmlns:r="http://schemas.openxmlformats.org/officeDocument/2006/relationships" id="259" r:id="R9df2e593732f4eb7"/>
    <p:sldId xmlns:r="http://schemas.openxmlformats.org/officeDocument/2006/relationships" id="260" r:id="R78b9da534c804d59"/>
    <p:sldId xmlns:r="http://schemas.openxmlformats.org/officeDocument/2006/relationships" id="261" r:id="R71ccd14b63294e2f"/>
    <p:sldId xmlns:r="http://schemas.openxmlformats.org/officeDocument/2006/relationships" id="262" r:id="R24cac9699b654c62"/>
    <p:sldId xmlns:r="http://schemas.openxmlformats.org/officeDocument/2006/relationships" id="263" r:id="Re0ee3607f40b4053"/>
    <p:sldId xmlns:r="http://schemas.openxmlformats.org/officeDocument/2006/relationships" id="264" r:id="R584a779716a1469b"/>
    <p:sldId xmlns:r="http://schemas.openxmlformats.org/officeDocument/2006/relationships" id="265" r:id="R75c61eb046fb4b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58441ec434002" /><Relationship Type="http://schemas.openxmlformats.org/officeDocument/2006/relationships/slideMaster" Target="/ppt/slideMasters/slideMaster1.xml" Id="R1274b013e0a94dd5" /><Relationship Type="http://schemas.openxmlformats.org/officeDocument/2006/relationships/notesMaster" Target="/ppt/notesMasters/notesMaster1.xml" Id="R7a74951b27f54417" /><Relationship Type="http://schemas.openxmlformats.org/officeDocument/2006/relationships/presProps" Target="/ppt/presProps.xml" Id="R29bb78bc837a484e" /><Relationship Type="http://schemas.openxmlformats.org/officeDocument/2006/relationships/tableStyles" Target="/ppt/tableStyles.xml" Id="R0a8006f2afd64dd8" /><Relationship Type="http://schemas.openxmlformats.org/officeDocument/2006/relationships/slide" Target="/ppt/slides/slide1.xml" Id="R527c587abbc44a83" /><Relationship Type="http://schemas.openxmlformats.org/officeDocument/2006/relationships/slide" Target="/ppt/slides/slide2.xml" Id="Ra350b29627f34e88" /><Relationship Type="http://schemas.openxmlformats.org/officeDocument/2006/relationships/slide" Target="/ppt/slides/slide3.xml" Id="Re9dc7b34764d4b31" /><Relationship Type="http://schemas.openxmlformats.org/officeDocument/2006/relationships/slide" Target="/ppt/slides/slide4.xml" Id="R9df2e593732f4eb7" /><Relationship Type="http://schemas.openxmlformats.org/officeDocument/2006/relationships/slide" Target="/ppt/slides/slide5.xml" Id="R78b9da534c804d59" /><Relationship Type="http://schemas.openxmlformats.org/officeDocument/2006/relationships/slide" Target="/ppt/slides/slide6.xml" Id="R71ccd14b63294e2f" /><Relationship Type="http://schemas.openxmlformats.org/officeDocument/2006/relationships/slide" Target="/ppt/slides/slide7.xml" Id="R24cac9699b654c62" /><Relationship Type="http://schemas.openxmlformats.org/officeDocument/2006/relationships/slide" Target="/ppt/slides/slide8.xml" Id="Re0ee3607f40b4053" /><Relationship Type="http://schemas.openxmlformats.org/officeDocument/2006/relationships/slide" Target="/ppt/slides/slide9.xml" Id="R584a779716a1469b" /><Relationship Type="http://schemas.openxmlformats.org/officeDocument/2006/relationships/slide" Target="/ppt/slides/slide10.xml" Id="R75c61eb046fb4b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5dd790e69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a817a8c174b2d" /><Relationship Type="http://schemas.openxmlformats.org/officeDocument/2006/relationships/notesMaster" Target="/ppt/notesMasters/notesMaster1.xml" Id="R585f2317df5a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d257116564e5d" /><Relationship Type="http://schemas.openxmlformats.org/officeDocument/2006/relationships/notesMaster" Target="/ppt/notesMasters/notesMaster1.xml" Id="R18ed47350080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51832711549b5" /><Relationship Type="http://schemas.openxmlformats.org/officeDocument/2006/relationships/notesMaster" Target="/ppt/notesMasters/notesMaster1.xml" Id="Rc992d8d6eb71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4d22811f8f483a" /><Relationship Type="http://schemas.openxmlformats.org/officeDocument/2006/relationships/notesMaster" Target="/ppt/notesMasters/notesMaster1.xml" Id="R0948acad633c4d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d0a4db01c4c54" /><Relationship Type="http://schemas.openxmlformats.org/officeDocument/2006/relationships/notesMaster" Target="/ppt/notesMasters/notesMaster1.xml" Id="R5353e0bd1ece47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10fedd489b44bf" /><Relationship Type="http://schemas.openxmlformats.org/officeDocument/2006/relationships/notesMaster" Target="/ppt/notesMasters/notesMaster1.xml" Id="Rea4df6ce9ba3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745d0897344fa" /><Relationship Type="http://schemas.openxmlformats.org/officeDocument/2006/relationships/notesMaster" Target="/ppt/notesMasters/notesMaster1.xml" Id="R751b3a8f0cf3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34e9b8b4ce4fc6" /><Relationship Type="http://schemas.openxmlformats.org/officeDocument/2006/relationships/notesMaster" Target="/ppt/notesMasters/notesMaster1.xml" Id="R96b3ac7ab7024f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8c9d64fe6141c8" /><Relationship Type="http://schemas.openxmlformats.org/officeDocument/2006/relationships/notesMaster" Target="/ppt/notesMasters/notesMaster1.xml" Id="R3961977e06a5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ba0cfaea35499d" /><Relationship Type="http://schemas.openxmlformats.org/officeDocument/2006/relationships/notesMaster" Target="/ppt/notesMasters/notesMaster1.xml" Id="Rae50a26640e4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decision: this is Option 1, a dataset-backed GenAI project.</a:t>
            </a:r>
          </a:p>
          <a:p xmlns:a="http://schemas.openxmlformats.org/drawingml/2006/main">
            <a:r>
              <a:t>The core idea is simple: the assistant is only useful when the source boundary is visible.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artifacts: data/campus_records.jsonl, output/evaluation_results.json.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controlled trade-off rather than a chatbot build.</a:t>
            </a:r>
          </a:p>
          <a:p xmlns:a="http://schemas.openxmlformats.org/drawingml/2006/main">
            <a:r>
              <a:t>The assistant must answer supported campus questions and make unsupported questions legible as unsupported.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artifacts: docs/methodology.md and data/campus_records.jsonl.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dataset requirement directly: the team created and curated its own JSONL corpus.</a:t>
            </a:r>
          </a:p>
          <a:p xmlns:a="http://schemas.openxmlformats.org/drawingml/2006/main">
            <a:r>
              <a:t>Point out the synthetic label as a responsible limitation, not an afterthought.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artifact: data/campus_records.jsonl.</a:t>
            </a:r>
          </a:p>
          <a:p xmlns:a="http://schemas.openxmlformats.org/drawingml/2006/main">
            <a:r>
              <a:t>- Internal project artifact: docs/dataset_card.md.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retrieval and gate stages are the project contribution; the external model is one replaceable provider.</a:t>
            </a:r>
          </a:p>
          <a:p xmlns:a="http://schemas.openxmlformats.org/drawingml/2006/main">
            <a:r>
              <a:t>The default implementation uses standard-library scoring so the offline evaluation is deterministic and inspectable.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artifacts: src/campus_guide/retrieval.py and src/campus_guide/answering.py.</a:t>
            </a:r>
          </a:p>
          <a:p xmlns:a="http://schemas.openxmlformats.org/drawingml/2006/main">
            <a:r>
              <a:t>- OpenRouter API reference: https://openrouter.ai/docs/api/api-reference/chat/send-chat-completion-request?explorer=true</a:t>
            </a:r>
          </a:p>
          <a:p xmlns:a="http://schemas.openxmlformats.org/drawingml/2006/main">
            <a:r>
              <a:t>- OpenRouter free models router: https://openrouter.ai/docs/cookbook/get-started/free-models-router-playground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mock UI to point out that the app does not stop at a chat answer. It also exposes evaluation and corpus inspection.</a:t>
            </a:r>
          </a:p>
          <a:p xmlns:a="http://schemas.openxmlformats.org/drawingml/2006/main">
            <a:r>
              <a:t>The visible evidence row is the key presentation moment: a reviewer can see what the answer used.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artifact: app.py and src/campus_guide/ui.css.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guardrail demo. Run the supported question first, then the cafeteria question.</a:t>
            </a:r>
          </a:p>
          <a:p xmlns:a="http://schemas.openxmlformats.org/drawingml/2006/main">
            <a:r>
              <a:t>Explain that the threshold is based on the retrieval score and that the refusal path does not emit a citation.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artifacts: src/campus_guide/answering.py and output/evaluation_results.json.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actual results from output/evaluation_results.json, not projected performance.</a:t>
            </a:r>
          </a:p>
          <a:p xmlns:a="http://schemas.openxmlformats.org/drawingml/2006/main">
            <a:r>
              <a:t>The evaluation is intentionally modest: it checks the behaviors the project claims to implement.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artifact: output/evaluation_results.json.</a:t>
            </a:r>
          </a:p>
          <a:p xmlns:a="http://schemas.openxmlformats.org/drawingml/2006/main">
            <a:r>
              <a:t>- Internal project artifact: src/campus_guide/evaluation.py.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what is and is not being claimed. The synthetic corpus is appropriate for a classroom prototype and not for official decisions.</a:t>
            </a:r>
          </a:p>
          <a:p xmlns:a="http://schemas.openxmlformats.org/drawingml/2006/main">
            <a:r>
              <a:t>The free provider route is convenient for a live demo, but availability and limits are external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artifacts: README.md, docs/dataset_card.md, .streamlit/secrets.toml.example.</a:t>
            </a:r>
          </a:p>
          <a:p xmlns:a="http://schemas.openxmlformats.org/drawingml/2006/main">
            <a:r>
              <a:t>- OpenRouter FAQ: https://openrouter.ai/docs/faq</a:t>
            </a:r>
          </a:p>
          <a:p xmlns:a="http://schemas.openxmlformats.org/drawingml/2006/main">
            <a:r>
              <a:t>- OpenRouter free models router: https://openrouter.ai/docs/cookbook/get-started/free-models-router-playground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exact prompts in the demo script. The first two show citations; the third shows the refusal boundary.</a:t>
            </a:r>
          </a:p>
          <a:p xmlns:a="http://schemas.openxmlformats.org/drawingml/2006/main">
            <a:r>
              <a:t>Finish by clicking the Evaluation tab so the live behavior and offline evidence are connected.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artifact: docs/demo_script.md.</a:t>
            </a:r>
          </a:p>
          <a:p xmlns:a="http://schemas.openxmlformats.org/drawingml/2006/main">
            <a:r>
              <a:t>- Internal project artifact: data/evaluation_set.jsonl.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handoff. The implementation is complete, but the team still needs to replace placeholders and publish the app.</a:t>
            </a:r>
          </a:p>
          <a:p xmlns:a="http://schemas.openxmlformats.org/drawingml/2006/main">
            <a:r>
              <a:t>The deadline shown is the CCA selection form deadline from the brief: 5 September 2026.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artifact: README.md.</a:t>
            </a:r>
          </a:p>
          <a:p xmlns:a="http://schemas.openxmlformats.org/drawingml/2006/main">
            <a:r>
              <a:t>- Internal project artifact: docs/rubric_mapping.md.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6c774c1a8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298d554594fd4" /><Relationship Type="http://schemas.openxmlformats.org/officeDocument/2006/relationships/slideLayout" Target="/ppt/slideLayouts/slideLayout1.xml" Id="Rc0eb5727d992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b5727d992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6bb3e520c4d60" /><Relationship Type="http://schemas.openxmlformats.org/officeDocument/2006/relationships/notesSlide" Target="/ppt/notesSlides/notesSlide1.xml" Id="R1ef701bbf760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8e8ea258645e9" /><Relationship Type="http://schemas.openxmlformats.org/officeDocument/2006/relationships/notesSlide" Target="/ppt/notesSlides/notesSlide2.xml" Id="R25a12d1cf04e4c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468ec65964714" /><Relationship Type="http://schemas.openxmlformats.org/officeDocument/2006/relationships/notesSlide" Target="/ppt/notesSlides/notesSlide3.xml" Id="R061f9f103748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a2b6ce0a340c5" /><Relationship Type="http://schemas.openxmlformats.org/officeDocument/2006/relationships/notesSlide" Target="/ppt/notesSlides/notesSlide4.xml" Id="Rfeb46e6951784f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456552b364341" /><Relationship Type="http://schemas.openxmlformats.org/officeDocument/2006/relationships/notesSlide" Target="/ppt/notesSlides/notesSlide5.xml" Id="Re89375cc113e4c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b681f576402e" /><Relationship Type="http://schemas.openxmlformats.org/officeDocument/2006/relationships/notesSlide" Target="/ppt/notesSlides/notesSlide6.xml" Id="R58a26409746f4f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6ad9c03e042eb" /><Relationship Type="http://schemas.openxmlformats.org/officeDocument/2006/relationships/notesSlide" Target="/ppt/notesSlides/notesSlide7.xml" Id="Ra159c759b7fd4f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569ec63fd4ee6" /><Relationship Type="http://schemas.openxmlformats.org/officeDocument/2006/relationships/notesSlide" Target="/ppt/notesSlides/notesSlide8.xml" Id="R4025e3d2c2a8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2c143557f4fa0" /><Relationship Type="http://schemas.openxmlformats.org/officeDocument/2006/relationships/notesSlide" Target="/ppt/notesSlides/notesSlide9.xml" Id="Re75231f9d20447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83cca6c5941a1" /><Relationship Type="http://schemas.openxmlformats.org/officeDocument/2006/relationships/notesSlide" Target="/ppt/notesSlides/notesSlide10.xml" Id="Rd0eb357de1b4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9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36B98-1A98-4554-9006-1B01B79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81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E5FBA-EBE1-475B-A0C2-E77FE87F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OPTION 01 / CCA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BBD01-EF44-4F54-96D5-EC7822FD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defRPr>
            </a:pPr>
            <a:r>
              <a:rPr sz="465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rPr>
              <a:t>Northbridge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E5A30-C6E4-4AE8-A662-C1E5031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BB6FF"/>
                </a:solidFill>
                <a:latin typeface="Space Grotesk"/>
                <a:ea typeface="Space Grotesk"/>
                <a:cs typeface="Space Grotesk"/>
              </a:defRPr>
            </a:pPr>
            <a:r>
              <a:rPr sz="4650" b="1">
                <a:solidFill>
                  <a:srgbClr val="9BB6FF"/>
                </a:solidFill>
                <a:latin typeface="Space Grotesk"/>
                <a:ea typeface="Space Grotesk"/>
                <a:cs typeface="Space Grotesk"/>
              </a:rPr>
              <a:t>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CD014-B030-400D-AEC0-C9CD371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B5C0D2"/>
                </a:solidFill>
                <a:latin typeface="Inter"/>
                <a:ea typeface="Inter"/>
                <a:cs typeface="Inter"/>
              </a:rPr>
              <a:t>An evidence-first campus information assistant using retrieval-augmented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CE0D0-DD86-4A62-B772-3C18D3D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Gen AI and applications [ECSDI24402]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A7C03-1486-4BA0-86FD-263B9A3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95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[Student 1]  ·  [Student 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F23EC-C367-43C6-BD99-6F0B065E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31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06D29-72D3-4BDE-ABA6-4DD6B59F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52550"/>
            <a:ext cx="32766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2B374A"/>
          </a:solidFill>
          <a:ln xmlns:a="http://schemas.openxmlformats.org/drawingml/2006/main" w="9525">
            <a:solidFill>
              <a:srgbClr val="3947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346CC-8C41-40E1-8336-0855CFA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THE PROJECT IN ONE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D97A0-593E-4800-A80E-D3C1484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defRPr>
            </a:pPr>
            <a:r>
              <a:rPr sz="435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rPr>
              <a:t>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EA2BA-2B8D-4341-9F4B-D5111DDF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5C0D2"/>
                </a:solidFill>
                <a:latin typeface="Inter"/>
                <a:ea typeface="Inter"/>
                <a:cs typeface="Inter"/>
              </a:rPr>
              <a:t>synthetic campus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A7008-3450-4FA0-A8D2-20D3351C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C35EB-7719-46CC-B975-F2CB854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78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300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49DAD-7612-4326-A5A1-8764DCA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43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5C0D2"/>
                </a:solidFill>
                <a:latin typeface="Inter"/>
                <a:ea typeface="Inter"/>
                <a:cs typeface="Inter"/>
              </a:rPr>
              <a:t>evaluation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2B5B9-DDBA-4D81-AB3B-7959A20B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576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1B30B-B435-4F8B-972C-7C486A8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78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ED8C8"/>
                </a:solidFill>
                <a:latin typeface="JetBrains Mono"/>
                <a:ea typeface="JetBrains Mono"/>
                <a:cs typeface="JetBrains Mono"/>
              </a:defRPr>
            </a:pPr>
            <a:r>
              <a:rPr sz="3000" b="1">
                <a:solidFill>
                  <a:srgbClr val="7ED8C8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C39B4-5173-4E6D-A31B-948F7557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95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5C0D2"/>
                </a:solidFill>
                <a:latin typeface="Inter"/>
                <a:ea typeface="Inter"/>
                <a:cs typeface="Inter"/>
              </a:rPr>
              <a:t>visible source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DACF5-E6F7-44FA-A38D-7EF59E97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6C894-FC30-444B-BF4C-30538750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CDD91-AF9D-4C78-A080-80CE76CA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466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3F3C0-BA40-4403-B7BB-8336586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A fast answer is not a safe answer.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5E28F-8B62-4323-9C04-9EA4C40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Campus questions reward specificity. Language models reward fluency.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DBF20-C86A-4291-B825-0601F38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FE004-EA7C-4FB7-9D48-C6701E4B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THE DESIGN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7F953-BB7C-44E4-AC23-F31316E6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2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Campus information is full of small details that matter: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54837-571A-43F9-AF02-8E072A2B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356D6-511B-4E18-96E2-BE8A449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Where do I submit a transcript request?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DA749-76EF-4408-BA4A-6DCA935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 procedural question with a precise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CC466-C76E-4C09-A458-1DBDEC7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2A47F-AB36-49BC-AA84-0B261F6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Can I borrow a laptop from the library?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115D2-C038-44D7-AC82-863B7BA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 policy question with a clear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AB048-FFDA-4C5F-BF31-34EE3D6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9523F-7631-49EB-9C25-CCF956B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Where is the cafeteria?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784A9-4452-41F6-93E8-CFFBB75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 plausible question the dataset does not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5D136-3F60-427C-AFBF-96B7DB68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0DC0E-9104-4447-8F95-F5A93FC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9825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THE PROJECT MOVE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2F1D3-ECAB-45C0-A3B0-EDA63570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9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rPr>
              <a:t>Make the source boundary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311D1-0E65-41A7-A9A8-FB7D4659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B5C0D2"/>
                </a:solidFill>
                <a:latin typeface="Inter"/>
                <a:ea typeface="Inter"/>
                <a:cs typeface="Inter"/>
              </a:rPr>
              <a:t>Retrieve relevant records first. Generate only from the evidence. Refuse when the evidence is weak.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6FA2D-2414-446E-9870-5669C6DF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7A8F5-8AF9-49F4-9177-E07302EE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5C0D2"/>
                </a:solidFill>
                <a:latin typeface="Inter"/>
                <a:ea typeface="Inter"/>
                <a:cs typeface="Inter"/>
              </a:rPr>
              <a:t>A grounded answer is not just more accurate. It is easier to inspect, test, and present.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3D80B-4DAA-4A4C-964A-A73E4206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AA06E-50F2-4A68-B2D4-555E45C3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A3693-BBED-4C21-8126-CD63D91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4113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778FFE-64AC-4B0D-806E-1B1D266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The model's world is 54 records.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00438-1222-46C9-962F-E5A1DCD8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A small, transparent corpus is enough to demonstrate the full GenAI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5A495-9797-4F9C-8101-2CB9AC68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F29E9-E08A-48AD-AE40-3DAB4D82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SELF-PREPARED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EA503-B5E9-4133-B6AB-7F3B6D9C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0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rPr>
              <a:t>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52B78-A3C9-4625-9F9E-05859A9B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5C0D2"/>
                </a:solidFill>
                <a:latin typeface="Inter"/>
                <a:ea typeface="Inter"/>
                <a:cs typeface="Inter"/>
              </a:rPr>
              <a:t>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F53A-7834-4049-8244-2F1D5452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C4D88-1EA2-416A-A596-EAD4A22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9 categories  ·  6 records 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E9E3F-3DC1-461E-B86E-CA44B3F2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B5C0D2"/>
                </a:solidFill>
                <a:latin typeface="Inter"/>
                <a:ea typeface="Inter"/>
                <a:cs typeface="Inter"/>
              </a:rPr>
              <a:t>Synthetic by design. No real institute, contact, or emergency data is represented.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EA619-E5A3-4F7A-B9E7-A58EAE5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5B79A-15F4-4D7C-BDDB-96C3D7DF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812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Academics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AFC61-8E25-477B-AFE9-84820D9E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621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DDE19-80B2-40CC-9266-52028907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F998B-213E-4337-A8A5-1AEE7AAE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Examinations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C0FB5-DFC6-4250-B75B-25646D3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D77BC-4EA1-4892-B076-85F00CD7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1BBE6-F971-4992-A3AB-8D244E2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812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Fees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12208-AB94-4BAE-9FCA-175D775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621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CB72A-221C-4BFF-9AB7-60E1E0C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5BEBE-603F-4D54-A928-F6690F50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241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Library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FA78F-88AF-4020-8B82-A4F86E7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051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27A18-BDB7-469F-9938-2B261FE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C4C5E-F3C2-4904-A950-86B44DC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241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Scholarships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E7538-5BC8-4264-9EEB-836918F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284B4-3D6B-4ABE-BC4C-520C604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492D-6D0F-441B-94BD-85A5B28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Clubs &amp; societies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54BF3-EBD9-479A-AEA6-57EC6E3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051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C314A-055B-46B8-8514-9E3C6F7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ACB86-3E1B-4D75-9CFD-AA1838EB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Placements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203CC-2822-4B40-9F53-F1BBA8E3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48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5E26F-5BF4-407A-B0BA-D4C165F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ED35E-B9ED-49D4-9176-31DB9CA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Facilities &amp; 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04FC7-038B-4F4D-90EE-9060C55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A9F06-A135-42FF-8772-34564C4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AAAFE-E935-455E-879E-7910213A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Safety &amp; wellbeing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4B3AB6-716D-44EF-8140-F80468A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48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D59F6D-3D74-416A-8922-62314B40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RECORD SHAPE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37C82E-C67C-4A4C-B0CB-D32E7A18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958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B3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202B3D"/>
                </a:solidFill>
                <a:latin typeface="JetBrains Mono"/>
                <a:ea typeface="JetBrains Mono"/>
                <a:cs typeface="JetBrains Mono"/>
              </a:rPr>
              <a:t>id  ·  category  ·  title  ·  answer  ·  tags  ·  source  ·  confidence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5AE5AF-0A42-41EF-81D2-3D6CAA38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292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data card, validator, and corpus tab make the training/evaluation boundary inspectable.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9A595A-98D2-4909-9802-7C8F511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3A2C37-F920-4EA6-B0D9-0BC3E04F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615BBA-AB98-4BF6-9D11-462700D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089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8C114-7023-4CA7-8CB0-901F75E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Retrieve first. Generate second.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823FB-76A1-4C9B-AAC5-E336F77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architecture is intentionally small enough to explain on one board.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EF947-ED51-4922-B5A6-5E8AA2FD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752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B3AD-2327-4F69-94B3-2FB7E8B8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JSONL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83F5-8904-43A3-9BB7-B30C0534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194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54 curated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B20FC-192D-4872-9AB4-63B8503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0829-54A9-4E22-AB68-7CCD3BF9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752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1F835-C2B7-47C7-8B58-AE3229B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HYBRID 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76385-E016-4CB6-99F4-1147294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194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lexical + char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+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31DE4-A3C8-4944-8E6C-7E095A1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1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83814-AD17-4DA7-91C6-7957AC4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752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BF0E6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FC759-8E3F-4504-AC60-FD8367F0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6813D-0FEF-4351-9FCB-1B6488A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194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answerability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726A1-DD87-4A78-8E8D-E10191C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B22DF-F1B6-411F-B1FE-E0A73AC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57500"/>
            <a:ext cx="1752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7F5FA-E5C7-472A-A97B-90856B8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rPr>
              <a:t>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69961-E4FC-41EA-9809-33B24EF1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194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B5C0D2"/>
                </a:solidFill>
                <a:latin typeface="Inter"/>
                <a:ea typeface="Inter"/>
                <a:cs typeface="Inter"/>
              </a:rPr>
              <a:t>OpenRouter / free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B5C0D2"/>
                </a:solidFill>
                <a:latin typeface="Inter"/>
                <a:ea typeface="Inter"/>
                <a:cs typeface="Inter"/>
              </a:rPr>
              <a:t>or deterministic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146EE-01C0-43DB-A482-EEC78655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81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C2AEB-3687-45EB-A945-3D2272F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752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1C712-592C-492B-A87E-38CB391A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7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C6C21-6E4C-4157-8786-947E399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1947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answer + [R#]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6AB87-D1AF-443D-A2C4-BFDB3558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SCORING MIX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C7000-F2B5-423E-A915-51DADB1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52% lexical cosine  ·  23% concept match  ·  25% character n-grams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1F0AE-A47D-406F-9736-5AA5C39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B63D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46A8C-25C8-4455-AD4E-31828C7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rPr>
              <a:t>BELOW THRESHOLD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823B8-1153-48C7-8CD1-72307C39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529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Return a clear refusal with no fabricated citation.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98FA7-A09A-415B-B572-FF4B109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00">
                <a:solidFill>
                  <a:srgbClr val="667085"/>
                </a:solidFill>
                <a:latin typeface="Inter"/>
                <a:ea typeface="Inter"/>
                <a:cs typeface="Inter"/>
              </a:rPr>
              <a:t>Optional dense embeddings are a switch, not a hidden dependency.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CE710-DF84-4F76-BFE8-C6583FF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4B2AB-40A9-467A-A304-14FA625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96068E-786B-4385-8E2C-272961D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0955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7D9A94-BD3B-448D-A633-2F688F87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The demo exposes the evidence trail.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D29CD-809F-4DD3-A9D8-F9EE342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One Streamlit app carries the ask, evaluation, and corpus views.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9F16D-F1A4-4379-85A6-045383C7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52475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8063-8951-4C01-ACF4-4E4C0EE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2954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88258-2FD9-4FE8-8581-2684B66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rPr>
              <a:t>NORTHBRIDGE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E10F7-C43E-4FD4-AA34-B75799C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E106F-7711-4F30-8321-47C7BDD4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38D91-06E3-4443-B6FE-C86ACE8F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D05E0-DC60-474F-BD05-89C0AB5E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ABBD8-68CE-4E89-B526-FB381C6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3D3E9-68A6-4D69-84DB-3D9828EE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3FCE-5AC2-4CD4-BB18-11A7BEF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8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Ask the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1EFE1-8430-42A6-8757-00822BEC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1409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SYNTHETIC CORPUS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E02D7-0B04-47FC-A86D-5C6AD0BB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202B3D"/>
                </a:solidFill>
                <a:latin typeface="Inter"/>
                <a:ea typeface="Inter"/>
                <a:cs typeface="Inter"/>
              </a:rPr>
              <a:t>How do I request a transcript?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72535-2E7A-45D4-8E31-9BAC5AA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53911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12CD3-40A3-48B6-87F6-D2940599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19475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GROUNDED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E3CAE-BC8D-4635-BAF4-E88C7BB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67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1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Submit the request through the Academic Records office and include your student ID.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126C3-7ED2-4141-B5A9-3F5478F4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719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EVIDENCE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D9F54-9797-4547-BA21-AEB08434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539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5B6CA-7FB7-4D7D-81DD-7CDF514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529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[R1] acad-003  /  Academic Records transcript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137CD-E9E4-4681-AF7A-B8D96FE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SURFACES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B9C2A-3443-4239-908A-116A9FB3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B7E82-F70C-4623-B5FE-996CAB78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813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Question → answer →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B1B43-FE85-438B-AF74-9E560685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4327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0D3D2-46A9-4281-ABEC-5BBDECE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5305A-B676-4DED-8DA6-FADC6C47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38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40-case offline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5562F-1D4C-4B3D-AA62-6FF306C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005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89409-CF8C-408E-858B-DA1338A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CORPUS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9B54A-26B5-4B26-8B98-AFC5F393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Filterable record inspection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471CC-E5A3-4776-A9CF-1AF8501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213FA-D968-4760-9110-4CC3E912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CC1E2-EC23-4C5E-A4E6-6CC2C18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2058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A298A-4283-46A3-A437-AFDF66A1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Unsupported questions get a clear refusal.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CFB96-81D9-4E3C-AF2F-6989F7F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boundary is part of the product, not a hidden failure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F34AA-D915-49E7-8A92-127B647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8006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B9DD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F0FDC-26DF-41F9-A3E2-F2931B3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673DB-05D2-4C9D-8E92-D9FDA037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Can I borrow a laptop from the library?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2D86B-CC66-404C-BA76-411E288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02B3D"/>
                </a:solidFill>
                <a:latin typeface="Inter"/>
                <a:ea typeface="Inter"/>
                <a:cs typeface="Inter"/>
              </a:rPr>
              <a:t>Yes. The Library Services record describes the borrowing process and return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05CC6-D280-4B9C-92BA-2A7B5EB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1162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[R1] lib-003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33F0B-AC66-49D6-B41F-F9325871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56959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E9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E6D8F-A3AD-4C5A-AD10-5803C6F3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rPr>
              <a:t>NOT IN THE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E79EE-F777-48FD-ACC9-5AB8278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Where is the cafeteria?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AD916-E1B2-442A-A957-70D2939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4572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202B3D"/>
                </a:solidFill>
                <a:latin typeface="Inter"/>
                <a:ea typeface="Inter"/>
                <a:cs typeface="Inter"/>
              </a:rPr>
              <a:t>I cannot answer that from the available campus records. Try a question about academics, fees, library, or facilities.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A3FE-57F5-476C-BED9-6ED63BE5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rPr>
              <a:t>RETRIEVAL SCORE &lt; 0.16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40B2C-80DF-4DE5-BEBB-1450049C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89568-2461-47DF-8218-62C3332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No evidence  →  no citation  →  no invented detail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46423-393F-49EB-A437-FBE32419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8165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667085"/>
                </a:solidFill>
                <a:latin typeface="Inter"/>
                <a:ea typeface="Inter"/>
                <a:cs typeface="Inter"/>
              </a:rPr>
              <a:t>This is the simplest behavior to explain, test, and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205B3-A933-4504-94CC-813AD5D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C5F27-7C4A-4CF4-BDD0-031C6677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650E7-DA4F-40DB-AC2E-3D860D17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5455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3EEC5-C52B-4676-A819-0D919CEE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The baseline is measurable and repeatable.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9C38D-429A-4377-872B-5673173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Forty cases test retrieval, refusal, citations, and answer content without needing a live API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4D15B-BCCA-48ED-B0DE-A6E61FB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82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2391C-EB55-4B3C-A191-7D9FBF1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OFFLINE EVALUATION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2614F-FC25-44BD-8649-DF1FB8A1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37 supported  ·  3 refusal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3F614-A76E-4D4E-9FBC-32B5B7C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Retrieval recall@5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DC6B4-B4B4-4970-9AAA-393E3D0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37 / 37 supported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F4D27-5571-4135-925C-F370532E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0510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DBFDB-CC66-4013-92F3-4F71AE84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0510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7873A-96FE-44FD-89CF-E0B8A69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53256-AE2B-42B6-9067-79EB575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Refusal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1BF68-93E4-478E-91F2-6AF3599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3 / 3 refusal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AD41D-1A8C-49EE-9EB7-B7ACADB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24225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AFEBE-48EB-4371-A84D-4DA4115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24225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C7710-3947-45F5-9B48-6219E5F0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DD341-CB99-4E2A-9863-9AE2EBD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Citation validity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ACF9B-1FA4-4AE3-9BCC-80681F9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all emitted [R#] labels valid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6643F-0F0F-423A-8EAF-F37803D0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4A42-6CA5-4A1C-BC46-88D692C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C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6B19C-0738-4889-9287-2C11AC60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A85C2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A85C22"/>
                </a:solidFill>
                <a:latin typeface="JetBrains Mono"/>
                <a:ea typeface="JetBrains Mono"/>
                <a:cs typeface="JetBrains Mono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F443A-3100-4FC7-A2A1-AFD4CD1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02B3D"/>
                </a:solidFill>
                <a:latin typeface="Inter"/>
                <a:ea typeface="Inter"/>
                <a:cs typeface="Inter"/>
              </a:rPr>
              <a:t>Keyword 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F2470-5DF1-4985-BE75-CA7F74A8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answer content against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B0CCB-0E8E-4110-98AD-0142377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62475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0D751-2170-4BB9-95D1-721535E2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62475"/>
            <a:ext cx="394818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7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E774-C3B3-4989-9D86-2EAB09B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05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79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23479D"/>
                </a:solidFill>
                <a:latin typeface="JetBrains Mono"/>
                <a:ea typeface="JetBrains Mono"/>
                <a:cs typeface="JetBrains Mono"/>
              </a:rPr>
              <a:t>88%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6E089-AE0B-44EC-A4C5-D55C8184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The deterministic fallback keeps the baseline reproducible; the OpenRouter path is the live demo layer.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C90DA-75D2-4DEC-8581-B10B4AF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E984A-48E3-46CE-8F4C-CE71F314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563F-6ED7-4AD3-9D73-424FD90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9413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81E7A-317B-4B96-AA82-CD3AE46F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The prototype is useful because its boundary is visible.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695D1-97B3-42BD-BE55-913DC615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Responsible use is designed into the corpus, provider, and deployment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F0135-CF5F-4F4B-925B-B343932D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099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C5D21-E9FE-401A-AB90-A55F75C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TRUSTWORTHY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C041-0B83-46E7-A1AD-6E36649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EEC0A-F936-4FE4-AA25-E65D212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Evidence labels show what was retrieved.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0A032-73BB-4778-914E-B3A9500E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BFFB4-40E2-425A-9430-7EB98345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Refusal path blocks unsupported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850BB-1370-46AF-A8A8-FA199C00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5C0DF-BF32-414E-AAE6-E332BF8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Evaluation tab makes behavior inspectable.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9DF50-6F97-4D22-8F5B-890DF95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33600"/>
            <a:ext cx="30099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32731-4F4D-48D3-B629-C6D0946A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rPr>
              <a:t>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7AD0A-D3FA-4557-8BD4-C7F97DB5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63F87-4B58-49D8-9C40-D98BDE2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Corpus is synthetic, not an institute source of truth.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9A157-D635-484C-95EF-04061C12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02187-E47A-4A8F-8FA5-8E0B218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Public deployment needs a rate-limited API 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24E04-E5BE-40F5-97E4-8B616A60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BA14D-E36D-4FE1-9E7B-AB80578B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OpenRouter free-model availability and limits can vary.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767C8-F767-46EB-9F62-4DB5AF6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3600"/>
            <a:ext cx="30099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E3196-D4A3-46DE-A722-1EF0A06E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NEXT ITERATION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DF1F4-FEED-4366-80D9-DCC547D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ACA1F-7C51-47B1-8049-2F703F0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Replace synthetic records with approved sources.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6C185-BFAB-4917-9C6E-3257C91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F8EE7-8712-4983-B691-4115001A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Add freshness/version checks.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3C286-E442-4E83-90CB-2B7E06F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4D712-D7D9-4360-9200-6E5EDA28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B3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202B3D"/>
                </a:solidFill>
                <a:latin typeface="Inter"/>
                <a:ea typeface="Inter"/>
                <a:cs typeface="Inter"/>
              </a:rPr>
              <a:t>Expand adversarial and multilingual evaluation.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E5D609-3D6F-4ACF-8142-8D8F7B7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The assistant is framed as a prototype, not an official campus authority.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7FB27-2E1F-4112-9021-B631CAD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1F4FA"/>
                </a:solidFill>
                <a:latin typeface="JetBrains Mono"/>
                <a:ea typeface="JetBrains Mono"/>
                <a:cs typeface="JetBrains Mono"/>
              </a:rPr>
              <a:t>SYNTHETIC DATA DISCLOSED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D4C11-9302-494D-9B56-5A5CA93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E41B4-6699-4FA9-A916-5AD60080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92526-8B6F-4387-9D11-F83D521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9342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BF579-7EC7-4D9B-AAD4-29DDFDA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Three questions make the design obvious.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9C39-8537-48D0-8D24-66009674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667085"/>
                </a:solidFill>
                <a:latin typeface="Inter"/>
                <a:ea typeface="Inter"/>
                <a:cs typeface="Inter"/>
              </a:rPr>
              <a:t>A short demo can show the happy path, evidence, and refusal in under five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6215-9270-4742-BCBB-347C1E92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3565D4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0DD75-9D23-47E5-9578-99FDF79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10096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AA826-6057-4255-81F6-9B784E3A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6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How do I request a transcript?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75A86-5331-472A-B9C0-5847B0F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rPr>
              <a:t>SUPPORTED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DAAE6-1BEC-4C38-94B4-BE5AAC2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145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Answer + acad-003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8C593-4E37-4154-A4C3-B50AEA74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0A7B7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D8DAD-4562-42F4-BA6E-85E8129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10096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81C1D-A875-44AB-9D4B-16F64B44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Can I borrow a laptop from the library?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0A62E-F265-4CB8-A58B-2DF70BF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B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rPr>
              <a:t>SUPPORTED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848DD-833C-4E71-829E-DE043FB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861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Answer + lib-003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F9AA9-8EBE-4023-9581-E318D04E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>
                <a:solidFill>
                  <a:srgbClr val="B63D4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52D29-5C9C-4184-A19C-EA02039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10096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23C47-001E-4A8C-9CE1-ADC9A29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00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202B3D"/>
                </a:solidFill>
                <a:latin typeface="Space Grotesk"/>
                <a:ea typeface="Space Grotesk"/>
                <a:cs typeface="Space Grotesk"/>
              </a:rPr>
              <a:t>Where is the cafeteria?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02184-FC61-46F6-AFF6-90CABCA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3D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7F8FC"/>
                </a:solidFill>
                <a:latin typeface="JetBrains Mono"/>
                <a:ea typeface="JetBrains Mono"/>
                <a:cs typeface="JetBrains Mono"/>
              </a:rPr>
              <a:t>REFUSED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9DD65-EEE1-4425-BDC0-3F96BFC2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576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67085"/>
                </a:solidFill>
                <a:latin typeface="Inter"/>
                <a:ea typeface="Inter"/>
                <a:cs typeface="Inter"/>
              </a:rPr>
              <a:t>Boundary shown, no citation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1BBA8-6AC5-4556-94F3-D67F2C5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74445-5D9A-43FA-BAF3-C53C92A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B3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202B3D"/>
                </a:solidFill>
                <a:latin typeface="JetBrains Mono"/>
                <a:ea typeface="JetBrains Mono"/>
                <a:cs typeface="JetBrains Mono"/>
              </a:rPr>
              <a:t>Then open Evaluation: 1.00 recall  ·  1.00 refusal  ·  1.00 citations  ·  0.88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CB4D5-2B08-42DD-92B7-7E769D6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F17C3-461D-4991-9A07-693D135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NORTHBRIDGE GUIDE / CCA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B8D0A-3E07-4560-935F-BBEC6B5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667085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3172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F29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33637-AA5F-4361-9440-1E728988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81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F6D14-CD42-4367-BFFB-6EF1A28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1F4FA"/>
                </a:solidFill>
                <a:latin typeface="Space Grotesk"/>
                <a:ea typeface="Space Grotesk"/>
                <a:cs typeface="Space Grotesk"/>
              </a:rPr>
              <a:t>The project is ready for a classroom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909EF-7A5D-46FF-8345-B6835DB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0D2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5C0D2"/>
                </a:solidFill>
                <a:latin typeface="Inter"/>
                <a:ea typeface="Inter"/>
                <a:cs typeface="Inter"/>
              </a:rPr>
              <a:t>Submission-ready artifacts, a repeatable evaluation, and a demo that explains the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5DF13-EC53-4C29-A968-535D342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AB5C2-D613-48BE-AEFC-5DE9AD5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1F4F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1F4FA"/>
                </a:solidFill>
                <a:latin typeface="JetBrains Mono"/>
                <a:ea typeface="JetBrains Mono"/>
                <a:cs typeface="JetBrains Mono"/>
              </a:rPr>
              <a:t>uv run streamlit run app.py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59091-04C8-4ABC-AE9A-6B3772E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uv run python scripts\validate_dataset.py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22565-5F78-4B55-8A2B-188A000C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uv run python scripts\evaluate.py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6979F-717C-4ECB-ACF9-3368D33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SUBMISSION PACK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DF8B-0B11-4CFF-A89A-E64C390A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1F4FA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F1F4FA"/>
                </a:solidFill>
                <a:latin typeface="Inter"/>
                <a:ea typeface="Inter"/>
                <a:cs typeface="Inter"/>
              </a:rPr>
              <a:t>Report  ·  PPTX  ·  demo script  ·  rubric mapping  ·  dataset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9A2CE-1EDE-4E01-A207-4B374D87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Option 1  /  maximum two 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D5CFA-A5B0-401B-9AF7-9910BB3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CCA selection deadline  ·  05 SEP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0B019-32A7-412B-841E-E48B2AE3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31470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2B374A"/>
          </a:solidFill>
          <a:ln xmlns:a="http://schemas.openxmlformats.org/drawingml/2006/main" w="9525">
            <a:solidFill>
              <a:srgbClr val="3947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D408F-C9BC-4B02-B63E-0829C773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BB6FF"/>
                </a:solidFill>
                <a:latin typeface="JetBrains Mono"/>
                <a:ea typeface="JetBrains Mono"/>
                <a:cs typeface="JetBrains Mono"/>
              </a:rPr>
              <a:t>HANDOFF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15557-CD3E-4004-BDD2-03004B5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730F6-DAE6-470A-BAF4-37690CF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479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FB54E-3A94-4905-B4AC-4D8D4CB8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1F4FA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F4FA"/>
                </a:solidFill>
                <a:latin typeface="Inter"/>
                <a:ea typeface="Inter"/>
                <a:cs typeface="Inter"/>
              </a:rPr>
              <a:t>Replace student placeholders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4C0CD-4CE8-421A-971C-ACDF267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2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2F8CA-CD79-414C-A244-5BDFCE47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3432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6A2B8-DE64-47BF-8E54-7613211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1F4FA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F4FA"/>
                </a:solidFill>
                <a:latin typeface="Inter"/>
                <a:ea typeface="Inter"/>
                <a:cs typeface="Inter"/>
              </a:rPr>
              <a:t>Add API key as a secret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8372-1DC9-4F31-BB77-785E1C9D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FCE46-56D8-49A2-A835-03215ACF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70C87-1B25-46D2-8587-5BC0BE7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1F4FA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F4FA"/>
                </a:solidFill>
                <a:latin typeface="Inter"/>
                <a:ea typeface="Inter"/>
                <a:cs typeface="Inter"/>
              </a:rPr>
              <a:t>Publish Streamlit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26659-3853-402F-BE8D-A8B5C75B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3C800-C006-4983-9EA0-2261125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338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2937"/>
                </a:solidFill>
                <a:latin typeface="JetBrains Mono"/>
                <a:ea typeface="JetBrains Mono"/>
                <a:cs typeface="JetBrains Mono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6AE9B-F529-41E7-95AE-889BC336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1F4FA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F4FA"/>
                </a:solidFill>
                <a:latin typeface="Inter"/>
                <a:ea typeface="Inter"/>
                <a:cs typeface="Inter"/>
              </a:rPr>
              <a:t>Run the three-question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31F1D1-D55C-4A05-BEDD-1085BDB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38B02-DAD1-4789-BA6F-094B043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NORTHBRIDGE GUIDE / ECSDI24402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A798C-DBB6-488A-BA96-DC0FB656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>
                <a:solidFill>
                  <a:srgbClr val="B5C0D2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6852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2026-08-31T14:09:08.7550000Z</dcterms:created>
  <dcterms:modified xsi:type="dcterms:W3CDTF">2026-08-31T14:09:08.7550000Z</dcterms:modified>
</coreProperties>
</file>